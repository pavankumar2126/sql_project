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60" r:id="rId7"/>
    <p:sldId id="265" r:id="rId8"/>
    <p:sldId id="261" r:id="rId9"/>
    <p:sldId id="262" r:id="rId10"/>
    <p:sldId id="269" r:id="rId11"/>
    <p:sldId id="270" r:id="rId12"/>
    <p:sldId id="266" r:id="rId13"/>
    <p:sldId id="271" r:id="rId14"/>
    <p:sldId id="272" r:id="rId15"/>
    <p:sldId id="273" r:id="rId16"/>
    <p:sldId id="274" r:id="rId17"/>
    <p:sldId id="275" r:id="rId18"/>
    <p:sldId id="276" r:id="rId19"/>
    <p:sldId id="277" r:id="rId20"/>
    <p:sldId id="278" r:id="rId21"/>
    <p:sldId id="263" r:id="rId22"/>
    <p:sldId id="279" r:id="rId23"/>
    <p:sldId id="280" r:id="rId24"/>
    <p:sldId id="281" r:id="rId25"/>
    <p:sldId id="264" r:id="rId26"/>
    <p:sldId id="282" r:id="rId27"/>
    <p:sldId id="284" r:id="rId28"/>
    <p:sldId id="283" r:id="rId29"/>
    <p:sldId id="259" r:id="rId30"/>
  </p:sldIdLst>
  <p:sldSz cx="12192000" cy="6858000"/>
  <p:notesSz cx="6858000" cy="9144000"/>
  <p:embeddedFontLst>
    <p:embeddedFont>
      <p:font typeface="Calibri" panose="020F0502020204030204"/>
      <p:regular r:id="rId34"/>
    </p:embeddedFont>
    <p:embeddedFont>
      <p:font typeface="Lato Black" panose="020F0502020204030203"/>
      <p:bold r:id="rId35"/>
    </p:embeddedFont>
    <p:embeddedFont>
      <p:font typeface="Libre Baskerville" panose="0200000000000000000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917"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font" Target="fonts/font3.fntdata"/><Relationship Id="rId35" Type="http://schemas.openxmlformats.org/officeDocument/2006/relationships/font" Target="fonts/font2.fntdata"/><Relationship Id="rId34" Type="http://schemas.openxmlformats.org/officeDocument/2006/relationships/font" Target="fonts/font1.fntdata"/><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9.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3.png"/><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5.png"/><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7.png"/><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9.png"/><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1.png"/><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3.png"/><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5.png"/><Relationship Id="rId1"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7.png"/><Relationship Id="rId1"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0" y="0"/>
            <a:ext cx="12190815" cy="6694098"/>
          </a:xfrm>
          <a:prstGeom prst="rect">
            <a:avLst/>
          </a:prstGeom>
          <a:noFill/>
          <a:ln>
            <a:noFill/>
          </a:ln>
        </p:spPr>
      </p:pic>
      <p:sp>
        <p:nvSpPr>
          <p:cNvPr id="99" name="Google Shape;99;p1"/>
          <p:cNvSpPr txBox="1"/>
          <p:nvPr/>
        </p:nvSpPr>
        <p:spPr>
          <a:xfrm>
            <a:off x="2521912" y="4015408"/>
            <a:ext cx="7148174" cy="954067"/>
          </a:xfrm>
          <a:prstGeom prst="rect">
            <a:avLst/>
          </a:prstGeom>
          <a:noFill/>
          <a:ln>
            <a:noFill/>
          </a:ln>
        </p:spPr>
        <p:txBody>
          <a:bodyPr spcFirstLastPara="1" wrap="square" lIns="91425" tIns="45700" rIns="91425" bIns="45700" anchor="t" anchorCtr="0">
            <a:spAutoFit/>
          </a:bodyPr>
          <a:lstStyle/>
          <a:p>
            <a:pPr algn="ctr">
              <a:buSzPts val="1800"/>
            </a:pPr>
            <a:r>
              <a:rPr lang="en-IN" sz="2800" b="1" dirty="0"/>
              <a:t>Energy Consumption Analysis</a:t>
            </a:r>
            <a:endParaRPr lang="en-IN" sz="2800" b="1" dirty="0"/>
          </a:p>
          <a:p>
            <a:pPr algn="ctr">
              <a:buSzPts val="1800"/>
            </a:pPr>
            <a:endParaRPr sz="28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panose="020F0502020204030203"/>
              <a:buNone/>
            </a:pPr>
            <a:r>
              <a:rPr lang="en-IN" sz="3200" b="0" i="0" u="none" strike="noStrike" cap="none" dirty="0">
                <a:solidFill>
                  <a:srgbClr val="FF0000"/>
                </a:solidFill>
                <a:latin typeface="Lato Black" panose="020F0502020204030203"/>
                <a:ea typeface="Lato Black" panose="020F0502020204030203"/>
                <a:cs typeface="Lato Black" panose="020F0502020204030203"/>
                <a:sym typeface="Lato Black" panose="020F0502020204030203"/>
              </a:rPr>
              <a:t>About me</a:t>
            </a:r>
            <a:endParaRPr sz="1800" b="0" i="0" u="none" strike="noStrike" cap="none" dirty="0">
              <a:solidFill>
                <a:srgbClr val="FF0000"/>
              </a:solidFill>
              <a:latin typeface="Calibri" panose="020F0502020204030204"/>
              <a:ea typeface="Calibri" panose="020F0502020204030204"/>
              <a:cs typeface="Calibri" panose="020F0502020204030204"/>
              <a:sym typeface="Calibri" panose="020F0502020204030204"/>
            </a:endParaRPr>
          </a:p>
        </p:txBody>
      </p:sp>
      <p:sp>
        <p:nvSpPr>
          <p:cNvPr id="3" name="TextBox 2"/>
          <p:cNvSpPr txBox="1"/>
          <p:nvPr/>
        </p:nvSpPr>
        <p:spPr>
          <a:xfrm>
            <a:off x="427355" y="1252220"/>
            <a:ext cx="11379835" cy="4735830"/>
          </a:xfrm>
          <a:prstGeom prst="rect">
            <a:avLst/>
          </a:prstGeom>
          <a:noFill/>
        </p:spPr>
        <p:txBody>
          <a:bodyPr wrap="square" rtlCol="0">
            <a:noAutofit/>
          </a:bodyPr>
          <a:lstStyle/>
          <a:p>
            <a:r>
              <a:rPr lang="en-US" sz="2400" dirty="0"/>
              <a:t>My name is ch.pavan kumar, and I hold a masters degree in Computer Science in wesley pg college,hyderabad.I am passionate about expanding my skill set by learning Data Science, as it offers powerful tools to analyze complex data and derive meaningful insights that can drive innovation and decision-making in various industries. Though I do not have prior work experience, I am eager to apply my technical background and analytical mindset to master data science concepts and contribute effectively to future projects.</a:t>
            </a:r>
            <a:endParaRPr lang="en-US" sz="2400" dirty="0"/>
          </a:p>
          <a:p>
            <a:endParaRPr lang="en-US" sz="2400" dirty="0"/>
          </a:p>
          <a:p>
            <a:r>
              <a:rPr lang="en-US" sz="2000" dirty="0"/>
              <a:t>Connect with Me</a:t>
            </a:r>
            <a:endParaRPr lang="en-US" sz="2000" dirty="0"/>
          </a:p>
          <a:p>
            <a:r>
              <a:rPr lang="en-US" altLang="en-US" sz="2000" dirty="0" err="1"/>
              <a:t>www.linkedin.com/in/challagondla-pavan-kumar</a:t>
            </a:r>
            <a:endParaRPr lang="en-US" altLang="en-US" sz="2000" dirty="0" err="1"/>
          </a:p>
          <a:p>
            <a:r>
              <a:rPr lang="en-US" altLang="en-US" sz="2000" dirty="0" err="1"/>
              <a:t>https://github.com/pavankumar2126</a:t>
            </a:r>
            <a:endParaRPr lang="en-US" altLang="en-US" sz="2000" dirty="0" err="1"/>
          </a:p>
          <a:p>
            <a:r>
              <a:rPr lang="en-IN" sz="2000" dirty="0" err="1"/>
              <a:t>Mail:</a:t>
            </a:r>
            <a:r>
              <a:rPr lang="en-US" altLang="en-IN" sz="2000" dirty="0" err="1"/>
              <a:t>challagondlapavankumar@gmail.com</a:t>
            </a:r>
            <a:endParaRPr lang="en-US" altLang="en-IN" sz="2000" dirty="0" err="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971208"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 (Key finding overall) </a:t>
            </a:r>
            <a:endParaRPr sz="2400" dirty="0"/>
          </a:p>
          <a:p>
            <a:pPr marL="457200" lvl="0" indent="-431800" algn="l" rtl="0">
              <a:lnSpc>
                <a:spcPct val="90000"/>
              </a:lnSpc>
              <a:spcBef>
                <a:spcPts val="1000"/>
              </a:spcBef>
              <a:spcAft>
                <a:spcPts val="0"/>
              </a:spcAft>
              <a:buSzPts val="2400"/>
              <a:buChar char="•"/>
            </a:pPr>
            <a:r>
              <a:rPr lang="en-IN" sz="2400" b="1" dirty="0"/>
              <a:t>Q&amp;A Slide </a:t>
            </a:r>
            <a:endParaRPr sz="2400" dirty="0"/>
          </a:p>
          <a:p>
            <a:pPr marL="457200" lvl="0" indent="-431800" algn="l" rtl="0">
              <a:lnSpc>
                <a:spcPct val="90000"/>
              </a:lnSpc>
              <a:spcBef>
                <a:spcPts val="1000"/>
              </a:spcBef>
              <a:spcAft>
                <a:spcPts val="0"/>
              </a:spcAft>
              <a:buSzPts val="2400"/>
              <a:buChar char="•"/>
            </a:pPr>
            <a:r>
              <a:rPr lang="en-IN" sz="2400" b="1" dirty="0"/>
              <a:t>Your Experience/Challenges working on SQL – Data Analysis Project.</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6835"/>
            <a:ext cx="10515600" cy="1789043"/>
          </a:xfrm>
        </p:spPr>
        <p:txBody>
          <a:bodyPr>
            <a:normAutofit/>
          </a:bodyPr>
          <a:lstStyle/>
          <a:p>
            <a:r>
              <a:rPr lang="en-IN" sz="3200" b="1" dirty="0">
                <a:solidFill>
                  <a:srgbClr val="FF0000"/>
                </a:solidFill>
              </a:rPr>
              <a:t>Objective</a:t>
            </a:r>
            <a:r>
              <a:rPr lang="en-IN" sz="3600" b="1" dirty="0">
                <a:solidFill>
                  <a:srgbClr val="FF0000"/>
                </a:solidFill>
              </a:rPr>
              <a:t> of the Project</a:t>
            </a:r>
            <a:br>
              <a:rPr lang="en-IN" dirty="0"/>
            </a:br>
            <a:endParaRPr lang="en-IN" dirty="0"/>
          </a:p>
        </p:txBody>
      </p:sp>
      <p:sp>
        <p:nvSpPr>
          <p:cNvPr id="3" name="Text Placeholder 2"/>
          <p:cNvSpPr>
            <a:spLocks noGrp="1"/>
          </p:cNvSpPr>
          <p:nvPr>
            <p:ph type="body" idx="1"/>
          </p:nvPr>
        </p:nvSpPr>
        <p:spPr>
          <a:xfrm>
            <a:off x="728870" y="1590262"/>
            <a:ext cx="10515600" cy="4134678"/>
          </a:xfrm>
        </p:spPr>
        <p:txBody>
          <a:bodyPr/>
          <a:lstStyle/>
          <a:p>
            <a:pPr marL="114300" indent="0">
              <a:buNone/>
            </a:pPr>
            <a:r>
              <a:rPr lang="en-US" dirty="0"/>
              <a:t>The objective of the Energy Consumption Analysis SQL project is to analyze worldwide energy consumption using data from the EIA organization, which tracks metrics such as energy consumption, emissions, production, population, and GDP for various countries. The project aims to derive meaningful insights by understanding correlations between economic power, consumption, and emissions. This comprehensive analysis is performed using structured datasets integrated into a MySQL database, enabling comparative, trend-based, and per capita assessments of global energy dynamics.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idx="2"/>
          </p:nvPr>
        </p:nvPicPr>
        <p:blipFill>
          <a:blip r:embed="rId1"/>
          <a:srcRect l="14403" r="14403"/>
          <a:stretch>
            <a:fillRect/>
          </a:stretch>
        </p:blipFill>
        <p:spPr>
          <a:xfrm>
            <a:off x="6619461" y="1260629"/>
            <a:ext cx="5356516" cy="4879437"/>
          </a:xfrm>
        </p:spPr>
      </p:pic>
      <p:sp>
        <p:nvSpPr>
          <p:cNvPr id="4" name="Text Placeholder 3"/>
          <p:cNvSpPr>
            <a:spLocks noGrp="1"/>
          </p:cNvSpPr>
          <p:nvPr>
            <p:ph type="body" idx="1"/>
          </p:nvPr>
        </p:nvSpPr>
        <p:spPr>
          <a:xfrm>
            <a:off x="839787" y="1260629"/>
            <a:ext cx="5472235" cy="5358831"/>
          </a:xfrm>
        </p:spPr>
        <p:txBody>
          <a:bodyPr>
            <a:normAutofit fontScale="92500" lnSpcReduction="10000"/>
          </a:bodyPr>
          <a:lstStyle/>
          <a:p>
            <a:r>
              <a:rPr lang="en-US" b="1" dirty="0"/>
              <a:t>ER Diagram Explanation</a:t>
            </a:r>
            <a:endParaRPr lang="en-US" b="1" dirty="0"/>
          </a:p>
          <a:p>
            <a:r>
              <a:rPr lang="en-US" dirty="0"/>
              <a:t>The ER diagram for the SQL project on energy consumption analysis consists of six interconnected tables: country, emission, population, production, GDP, and </a:t>
            </a:r>
            <a:r>
              <a:rPr lang="en-US" dirty="0" err="1"/>
              <a:t>consum</a:t>
            </a:r>
            <a:r>
              <a:rPr lang="en-US" dirty="0"/>
              <a:t>. The central "country" table is linked to all other tables through the country attribute, enabling relational integrity and structured queries across datasets.</a:t>
            </a:r>
            <a:endParaRPr lang="en-US" dirty="0"/>
          </a:p>
          <a:p>
            <a:r>
              <a:rPr lang="en-IN" b="1" dirty="0"/>
              <a:t>Schema Explanation</a:t>
            </a:r>
            <a:endParaRPr lang="en-IN" b="1" dirty="0"/>
          </a:p>
          <a:p>
            <a:pPr marL="514350" indent="-285750">
              <a:buFont typeface="Arial" panose="020B0604020202020204" pitchFamily="34" charset="0"/>
              <a:buChar char="•"/>
            </a:pPr>
            <a:r>
              <a:rPr lang="en-US" dirty="0"/>
              <a:t>The country table serves as the reference, containing fields for country name and a unique country ID. All other tables connect to this to maintain data consistency.</a:t>
            </a:r>
            <a:endParaRPr lang="en-US" dirty="0"/>
          </a:p>
          <a:p>
            <a:pPr marL="514350" indent="-285750">
              <a:buFont typeface="Arial" panose="020B0604020202020204" pitchFamily="34" charset="0"/>
              <a:buChar char="•"/>
            </a:pPr>
            <a:r>
              <a:rPr lang="en-US" dirty="0"/>
              <a:t>The emission table stores emission details, energy type, year, total emission, and per capita emission values for each country.</a:t>
            </a:r>
            <a:endParaRPr lang="en-US" dirty="0"/>
          </a:p>
          <a:p>
            <a:pPr marL="514350" indent="-285750">
              <a:buFont typeface="Arial" panose="020B0604020202020204" pitchFamily="34" charset="0"/>
              <a:buChar char="•"/>
            </a:pPr>
            <a:r>
              <a:rPr lang="en-US" dirty="0"/>
              <a:t>The population table tracks population values by country and year.</a:t>
            </a:r>
            <a:endParaRPr lang="en-US" dirty="0"/>
          </a:p>
          <a:p>
            <a:pPr marL="514350" indent="-285750">
              <a:buFont typeface="Arial" panose="020B0604020202020204" pitchFamily="34" charset="0"/>
              <a:buChar char="•"/>
            </a:pPr>
            <a:r>
              <a:rPr lang="en-US" dirty="0"/>
              <a:t>The production table contains data on energy production amounts by country, energy type, and year.</a:t>
            </a:r>
            <a:endParaRPr lang="en-US" dirty="0"/>
          </a:p>
          <a:p>
            <a:pPr marL="514350" indent="-285750">
              <a:buFont typeface="Arial" panose="020B0604020202020204" pitchFamily="34" charset="0"/>
              <a:buChar char="•"/>
            </a:pPr>
            <a:r>
              <a:rPr lang="en-US" dirty="0"/>
              <a:t>The </a:t>
            </a:r>
            <a:r>
              <a:rPr lang="en-US" dirty="0" err="1"/>
              <a:t>gdp_dd</a:t>
            </a:r>
            <a:r>
              <a:rPr lang="en-US" dirty="0"/>
              <a:t> table records GDP values by country and year.</a:t>
            </a:r>
            <a:endParaRPr lang="en-US" dirty="0"/>
          </a:p>
          <a:p>
            <a:pPr marL="514350" indent="-285750">
              <a:buFont typeface="Arial" panose="020B0604020202020204" pitchFamily="34" charset="0"/>
              <a:buChar char="•"/>
            </a:pPr>
            <a:r>
              <a:rPr lang="en-US" dirty="0"/>
              <a:t>The </a:t>
            </a:r>
            <a:r>
              <a:rPr lang="en-US" dirty="0" err="1"/>
              <a:t>consum</a:t>
            </a:r>
            <a:r>
              <a:rPr lang="en-US" dirty="0"/>
              <a:t> table keeps track of energy consumption data segmented by country, energy type, and year.</a:t>
            </a:r>
            <a:endParaRPr lang="en-US" dirty="0"/>
          </a:p>
        </p:txBody>
      </p:sp>
      <p:sp>
        <p:nvSpPr>
          <p:cNvPr id="6" name="Title 5"/>
          <p:cNvSpPr>
            <a:spLocks noGrp="1"/>
          </p:cNvSpPr>
          <p:nvPr>
            <p:ph type="title"/>
          </p:nvPr>
        </p:nvSpPr>
        <p:spPr>
          <a:xfrm>
            <a:off x="442221" y="238539"/>
            <a:ext cx="5779673" cy="1212574"/>
          </a:xfrm>
        </p:spPr>
        <p:txBody>
          <a:bodyPr>
            <a:normAutofit fontScale="90000"/>
          </a:bodyPr>
          <a:lstStyle/>
          <a:p>
            <a:r>
              <a:rPr lang="en-IN" b="1" dirty="0">
                <a:solidFill>
                  <a:srgbClr val="FF0000"/>
                </a:solidFill>
              </a:rPr>
              <a:t>ER Diagram and schema explanation</a:t>
            </a:r>
            <a:br>
              <a:rPr lang="en-IN" dirty="0"/>
            </a:b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460500"/>
          </a:xfrm>
        </p:spPr>
        <p:txBody>
          <a:bodyPr>
            <a:normAutofit/>
          </a:bodyPr>
          <a:lstStyle/>
          <a:p>
            <a:r>
              <a:rPr lang="en-IN" sz="3200" b="1" dirty="0">
                <a:solidFill>
                  <a:srgbClr val="FF0000"/>
                </a:solidFill>
              </a:rPr>
              <a:t>Key analysis questions</a:t>
            </a:r>
            <a:endParaRPr lang="en-IN" sz="3200" dirty="0">
              <a:solidFill>
                <a:srgbClr val="FF0000"/>
              </a:solidFill>
            </a:endParaRPr>
          </a:p>
        </p:txBody>
      </p:sp>
      <p:sp>
        <p:nvSpPr>
          <p:cNvPr id="3" name="Text Placeholder 2"/>
          <p:cNvSpPr>
            <a:spLocks noGrp="1"/>
          </p:cNvSpPr>
          <p:nvPr>
            <p:ph type="body" idx="1"/>
          </p:nvPr>
        </p:nvSpPr>
        <p:spPr>
          <a:xfrm>
            <a:off x="838200" y="1669002"/>
            <a:ext cx="10515600" cy="4507961"/>
          </a:xfrm>
        </p:spPr>
        <p:txBody>
          <a:bodyPr>
            <a:normAutofit fontScale="92500"/>
          </a:bodyPr>
          <a:lstStyle/>
          <a:p>
            <a:r>
              <a:rPr lang="en-US" dirty="0"/>
              <a:t>What is the total emission per country for the most recent year available?</a:t>
            </a:r>
            <a:endParaRPr lang="en-US" dirty="0"/>
          </a:p>
          <a:p>
            <a:r>
              <a:rPr lang="en-US" dirty="0"/>
              <a:t>What are the top 5 countries by GDP in the most recent year?</a:t>
            </a:r>
            <a:endParaRPr lang="en-US" dirty="0"/>
          </a:p>
          <a:p>
            <a:r>
              <a:rPr lang="en-US" dirty="0"/>
              <a:t>Which energy types contribute most to emissions across all countries?</a:t>
            </a:r>
            <a:endParaRPr lang="en-US" dirty="0"/>
          </a:p>
          <a:p>
            <a:r>
              <a:rPr lang="en-US" dirty="0"/>
              <a:t>How have global emissions, GDP, and population changed over time?</a:t>
            </a:r>
            <a:endParaRPr lang="en-US" dirty="0"/>
          </a:p>
          <a:p>
            <a:r>
              <a:rPr lang="en-US" dirty="0"/>
              <a:t>What is the emission-to-GDP and energy consumption per capita for each country?</a:t>
            </a:r>
            <a:endParaRPr lang="en-US" dirty="0"/>
          </a:p>
          <a:p>
            <a:r>
              <a:rPr lang="en-US" dirty="0"/>
              <a:t>Which countries have reduced their per capita emissions the most over the last decade?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rPr>
              <a:t>SQL query results with screenshots or summaries</a:t>
            </a:r>
            <a:br>
              <a:rPr lang="en-US" dirty="0"/>
            </a:br>
            <a:endParaRPr lang="en-IN" dirty="0"/>
          </a:p>
        </p:txBody>
      </p:sp>
      <p:sp>
        <p:nvSpPr>
          <p:cNvPr id="3" name="Text Placeholder 2"/>
          <p:cNvSpPr>
            <a:spLocks noGrp="1"/>
          </p:cNvSpPr>
          <p:nvPr>
            <p:ph type="body" idx="1"/>
          </p:nvPr>
        </p:nvSpPr>
        <p:spPr>
          <a:xfrm>
            <a:off x="838200" y="1245996"/>
            <a:ext cx="10515600" cy="4930967"/>
          </a:xfrm>
        </p:spPr>
        <p:txBody>
          <a:bodyPr/>
          <a:lstStyle/>
          <a:p>
            <a:pPr marL="114300" indent="0">
              <a:buNone/>
            </a:pPr>
            <a:r>
              <a:rPr lang="en-IN" dirty="0"/>
              <a:t>1.</a:t>
            </a:r>
            <a:r>
              <a:rPr lang="en-US" dirty="0"/>
              <a:t> What is the total emission per country for the most recent year available?</a:t>
            </a:r>
            <a:endParaRPr lang="en-IN" dirty="0"/>
          </a:p>
        </p:txBody>
      </p:sp>
      <p:sp>
        <p:nvSpPr>
          <p:cNvPr id="6" name="TextBox 5"/>
          <p:cNvSpPr txBox="1"/>
          <p:nvPr/>
        </p:nvSpPr>
        <p:spPr>
          <a:xfrm>
            <a:off x="653143" y="2532185"/>
            <a:ext cx="4963886" cy="461665"/>
          </a:xfrm>
          <a:prstGeom prst="rect">
            <a:avLst/>
          </a:prstGeom>
          <a:noFill/>
        </p:spPr>
        <p:txBody>
          <a:bodyPr wrap="square" rtlCol="0">
            <a:spAutoFit/>
          </a:bodyPr>
          <a:lstStyle/>
          <a:p>
            <a:pPr algn="ctr"/>
            <a:r>
              <a:rPr lang="en-IN" sz="2400" u="sng" dirty="0"/>
              <a:t>QUERY</a:t>
            </a:r>
            <a:endParaRPr lang="en-IN" sz="2400" u="sng" dirty="0"/>
          </a:p>
        </p:txBody>
      </p:sp>
      <p:sp>
        <p:nvSpPr>
          <p:cNvPr id="7" name="TextBox 6"/>
          <p:cNvSpPr txBox="1"/>
          <p:nvPr/>
        </p:nvSpPr>
        <p:spPr>
          <a:xfrm>
            <a:off x="6752491" y="2532184"/>
            <a:ext cx="3758084" cy="461665"/>
          </a:xfrm>
          <a:prstGeom prst="rect">
            <a:avLst/>
          </a:prstGeom>
          <a:noFill/>
        </p:spPr>
        <p:txBody>
          <a:bodyPr wrap="square" rtlCol="0">
            <a:spAutoFit/>
          </a:bodyPr>
          <a:lstStyle/>
          <a:p>
            <a:pPr algn="ctr"/>
            <a:r>
              <a:rPr lang="en-IN" sz="2400" u="sng" dirty="0"/>
              <a:t>OUTPUT</a:t>
            </a:r>
            <a:endParaRPr lang="en-IN" sz="2400" u="sng" dirty="0"/>
          </a:p>
        </p:txBody>
      </p:sp>
      <p:pic>
        <p:nvPicPr>
          <p:cNvPr id="4" name="Picture 3"/>
          <p:cNvPicPr>
            <a:picLocks noChangeAspect="1"/>
          </p:cNvPicPr>
          <p:nvPr/>
        </p:nvPicPr>
        <p:blipFill>
          <a:blip r:embed="rId1"/>
          <a:stretch>
            <a:fillRect/>
          </a:stretch>
        </p:blipFill>
        <p:spPr>
          <a:xfrm>
            <a:off x="1204595" y="3533775"/>
            <a:ext cx="4781550" cy="1938655"/>
          </a:xfrm>
          <a:prstGeom prst="rect">
            <a:avLst/>
          </a:prstGeom>
        </p:spPr>
      </p:pic>
      <p:pic>
        <p:nvPicPr>
          <p:cNvPr id="8" name="Picture 7"/>
          <p:cNvPicPr>
            <a:picLocks noChangeAspect="1"/>
          </p:cNvPicPr>
          <p:nvPr/>
        </p:nvPicPr>
        <p:blipFill>
          <a:blip r:embed="rId2"/>
          <a:stretch>
            <a:fillRect/>
          </a:stretch>
        </p:blipFill>
        <p:spPr>
          <a:xfrm>
            <a:off x="6900545" y="3226435"/>
            <a:ext cx="3775075" cy="2552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22515"/>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838200" y="1587640"/>
            <a:ext cx="10515600" cy="4589323"/>
          </a:xfrm>
        </p:spPr>
        <p:txBody>
          <a:bodyPr/>
          <a:lstStyle/>
          <a:p>
            <a:pPr marL="114300" indent="0">
              <a:buNone/>
            </a:pPr>
            <a:r>
              <a:rPr lang="en-US" dirty="0"/>
              <a:t>2.What are the top 5 countries by GDP in the most recent year?</a:t>
            </a:r>
            <a:endParaRPr lang="en-IN" dirty="0"/>
          </a:p>
        </p:txBody>
      </p:sp>
      <p:sp>
        <p:nvSpPr>
          <p:cNvPr id="4" name="TextBox 3"/>
          <p:cNvSpPr txBox="1"/>
          <p:nvPr/>
        </p:nvSpPr>
        <p:spPr>
          <a:xfrm>
            <a:off x="657330" y="2810155"/>
            <a:ext cx="4477378"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flipH="1">
            <a:off x="6595579" y="2810155"/>
            <a:ext cx="3603497" cy="461665"/>
          </a:xfrm>
          <a:prstGeom prst="rect">
            <a:avLst/>
          </a:prstGeom>
          <a:noFill/>
        </p:spPr>
        <p:txBody>
          <a:bodyPr wrap="square" rtlCol="0">
            <a:spAutoFit/>
          </a:bodyPr>
          <a:lstStyle/>
          <a:p>
            <a:pPr algn="ctr"/>
            <a:r>
              <a:rPr lang="en-IN" sz="2400" u="sng" dirty="0"/>
              <a:t>OUTPUT</a:t>
            </a:r>
            <a:endParaRPr lang="en-IN" sz="2400" u="sng" dirty="0"/>
          </a:p>
        </p:txBody>
      </p:sp>
      <p:pic>
        <p:nvPicPr>
          <p:cNvPr id="6" name="Picture 5"/>
          <p:cNvPicPr>
            <a:picLocks noChangeAspect="1"/>
          </p:cNvPicPr>
          <p:nvPr/>
        </p:nvPicPr>
        <p:blipFill>
          <a:blip r:embed="rId1"/>
          <a:stretch>
            <a:fillRect/>
          </a:stretch>
        </p:blipFill>
        <p:spPr>
          <a:xfrm>
            <a:off x="1329055" y="3575685"/>
            <a:ext cx="4667250" cy="1830705"/>
          </a:xfrm>
          <a:prstGeom prst="rect">
            <a:avLst/>
          </a:prstGeom>
        </p:spPr>
      </p:pic>
      <p:pic>
        <p:nvPicPr>
          <p:cNvPr id="8" name="Picture 7"/>
          <p:cNvPicPr>
            <a:picLocks noChangeAspect="1"/>
          </p:cNvPicPr>
          <p:nvPr/>
        </p:nvPicPr>
        <p:blipFill>
          <a:blip r:embed="rId2"/>
          <a:stretch>
            <a:fillRect/>
          </a:stretch>
        </p:blipFill>
        <p:spPr>
          <a:xfrm>
            <a:off x="6482715" y="3335020"/>
            <a:ext cx="4029075" cy="2619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52176"/>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838200" y="1517302"/>
            <a:ext cx="10515600" cy="897478"/>
          </a:xfrm>
        </p:spPr>
        <p:txBody>
          <a:bodyPr/>
          <a:lstStyle/>
          <a:p>
            <a:pPr marL="114300" indent="0">
              <a:buNone/>
            </a:pPr>
            <a:r>
              <a:rPr lang="en-US" dirty="0"/>
              <a:t>3.Compare energy production and consumption by country and year</a:t>
            </a:r>
            <a:endParaRPr lang="en-IN" dirty="0"/>
          </a:p>
          <a:p>
            <a:endParaRPr lang="en-IN" dirty="0"/>
          </a:p>
        </p:txBody>
      </p:sp>
      <p:sp>
        <p:nvSpPr>
          <p:cNvPr id="4" name="TextBox 3"/>
          <p:cNvSpPr txBox="1"/>
          <p:nvPr/>
        </p:nvSpPr>
        <p:spPr>
          <a:xfrm>
            <a:off x="1577591" y="2579044"/>
            <a:ext cx="2984361" cy="461665"/>
          </a:xfrm>
          <a:prstGeom prst="rect">
            <a:avLst/>
          </a:prstGeom>
          <a:noFill/>
        </p:spPr>
        <p:txBody>
          <a:bodyPr wrap="square" rtlCol="0">
            <a:spAutoFit/>
          </a:bodyPr>
          <a:lstStyle/>
          <a:p>
            <a:pPr algn="ctr"/>
            <a:r>
              <a:rPr lang="en-IN" sz="2400" u="sng" dirty="0"/>
              <a:t>QUERY</a:t>
            </a:r>
            <a:endParaRPr lang="en-IN" sz="2400" u="sng" dirty="0"/>
          </a:p>
        </p:txBody>
      </p:sp>
      <p:sp>
        <p:nvSpPr>
          <p:cNvPr id="6" name="TextBox 5"/>
          <p:cNvSpPr txBox="1"/>
          <p:nvPr/>
        </p:nvSpPr>
        <p:spPr>
          <a:xfrm>
            <a:off x="6491235" y="2579044"/>
            <a:ext cx="3607358" cy="461665"/>
          </a:xfrm>
          <a:prstGeom prst="rect">
            <a:avLst/>
          </a:prstGeom>
          <a:noFill/>
        </p:spPr>
        <p:txBody>
          <a:bodyPr wrap="square" rtlCol="0">
            <a:spAutoFit/>
          </a:bodyPr>
          <a:lstStyle/>
          <a:p>
            <a:pPr algn="ctr"/>
            <a:r>
              <a:rPr lang="en-IN" sz="2400" u="sng" dirty="0"/>
              <a:t>OUTPUT</a:t>
            </a:r>
            <a:endParaRPr lang="en-IN" sz="2400" u="sng" dirty="0"/>
          </a:p>
        </p:txBody>
      </p:sp>
      <p:pic>
        <p:nvPicPr>
          <p:cNvPr id="5" name="Picture 4"/>
          <p:cNvPicPr>
            <a:picLocks noChangeAspect="1"/>
          </p:cNvPicPr>
          <p:nvPr/>
        </p:nvPicPr>
        <p:blipFill>
          <a:blip r:embed="rId1"/>
          <a:stretch>
            <a:fillRect/>
          </a:stretch>
        </p:blipFill>
        <p:spPr>
          <a:xfrm>
            <a:off x="838200" y="3204845"/>
            <a:ext cx="5229225" cy="2543175"/>
          </a:xfrm>
          <a:prstGeom prst="rect">
            <a:avLst/>
          </a:prstGeom>
        </p:spPr>
      </p:pic>
      <p:pic>
        <p:nvPicPr>
          <p:cNvPr id="7" name="Picture 6"/>
          <p:cNvPicPr>
            <a:picLocks noChangeAspect="1"/>
          </p:cNvPicPr>
          <p:nvPr/>
        </p:nvPicPr>
        <p:blipFill>
          <a:blip r:embed="rId2"/>
          <a:stretch>
            <a:fillRect/>
          </a:stretch>
        </p:blipFill>
        <p:spPr>
          <a:xfrm>
            <a:off x="6859270" y="3117850"/>
            <a:ext cx="3867150" cy="2476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1354"/>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18587" y="1433739"/>
            <a:ext cx="10515600" cy="1098445"/>
          </a:xfrm>
        </p:spPr>
        <p:txBody>
          <a:bodyPr/>
          <a:lstStyle/>
          <a:p>
            <a:pPr marL="114300" indent="0">
              <a:buNone/>
            </a:pPr>
            <a:r>
              <a:rPr lang="en-IN" dirty="0"/>
              <a:t>4.</a:t>
            </a:r>
            <a:r>
              <a:rPr lang="en-US" dirty="0"/>
              <a:t> Which energy types contribute most to emissions across all countries? </a:t>
            </a:r>
            <a:endParaRPr lang="en-IN" dirty="0"/>
          </a:p>
        </p:txBody>
      </p:sp>
      <p:sp>
        <p:nvSpPr>
          <p:cNvPr id="4" name="TextBox 3"/>
          <p:cNvSpPr txBox="1"/>
          <p:nvPr/>
        </p:nvSpPr>
        <p:spPr>
          <a:xfrm>
            <a:off x="918587" y="2853730"/>
            <a:ext cx="3573026"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621864" y="2853731"/>
            <a:ext cx="3446585" cy="461665"/>
          </a:xfrm>
          <a:prstGeom prst="rect">
            <a:avLst/>
          </a:prstGeom>
          <a:noFill/>
        </p:spPr>
        <p:txBody>
          <a:bodyPr wrap="square" rtlCol="0">
            <a:spAutoFit/>
          </a:bodyPr>
          <a:lstStyle/>
          <a:p>
            <a:pPr algn="ctr"/>
            <a:r>
              <a:rPr lang="en-IN" sz="2400" u="sng" dirty="0"/>
              <a:t>OUTPUT</a:t>
            </a:r>
            <a:endParaRPr lang="en-IN" sz="2400" u="sng" dirty="0"/>
          </a:p>
        </p:txBody>
      </p:sp>
      <p:pic>
        <p:nvPicPr>
          <p:cNvPr id="6" name="Picture 5"/>
          <p:cNvPicPr>
            <a:picLocks noChangeAspect="1"/>
          </p:cNvPicPr>
          <p:nvPr/>
        </p:nvPicPr>
        <p:blipFill>
          <a:blip r:embed="rId1"/>
          <a:stretch>
            <a:fillRect/>
          </a:stretch>
        </p:blipFill>
        <p:spPr>
          <a:xfrm>
            <a:off x="645160" y="3636645"/>
            <a:ext cx="5076825" cy="1152525"/>
          </a:xfrm>
          <a:prstGeom prst="rect">
            <a:avLst/>
          </a:prstGeom>
        </p:spPr>
      </p:pic>
      <p:pic>
        <p:nvPicPr>
          <p:cNvPr id="8" name="Picture 7"/>
          <p:cNvPicPr>
            <a:picLocks noChangeAspect="1"/>
          </p:cNvPicPr>
          <p:nvPr/>
        </p:nvPicPr>
        <p:blipFill>
          <a:blip r:embed="rId2"/>
          <a:stretch>
            <a:fillRect/>
          </a:stretch>
        </p:blipFill>
        <p:spPr>
          <a:xfrm>
            <a:off x="6058535" y="3429000"/>
            <a:ext cx="5706110" cy="19265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82321"/>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6" y="1547446"/>
            <a:ext cx="10515600" cy="666366"/>
          </a:xfrm>
        </p:spPr>
        <p:txBody>
          <a:bodyPr>
            <a:normAutofit/>
          </a:bodyPr>
          <a:lstStyle/>
          <a:p>
            <a:pPr marL="114300" indent="0">
              <a:buNone/>
            </a:pPr>
            <a:r>
              <a:rPr lang="en-IN" dirty="0"/>
              <a:t>5.</a:t>
            </a:r>
            <a:r>
              <a:rPr lang="en-US" dirty="0"/>
              <a:t> How have global emissions changed year over year?</a:t>
            </a:r>
            <a:endParaRPr lang="en-IN" dirty="0"/>
          </a:p>
        </p:txBody>
      </p:sp>
      <p:sp>
        <p:nvSpPr>
          <p:cNvPr id="4" name="TextBox 3"/>
          <p:cNvSpPr txBox="1"/>
          <p:nvPr/>
        </p:nvSpPr>
        <p:spPr>
          <a:xfrm>
            <a:off x="1340618" y="2739812"/>
            <a:ext cx="3713703"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455230" y="2739812"/>
            <a:ext cx="3882014"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1244570" y="3500300"/>
            <a:ext cx="4020765" cy="1810254"/>
          </a:xfrm>
          <a:prstGeom prst="rect">
            <a:avLst/>
          </a:prstGeom>
        </p:spPr>
      </p:pic>
      <p:pic>
        <p:nvPicPr>
          <p:cNvPr id="6" name="Picture 5"/>
          <p:cNvPicPr>
            <a:picLocks noChangeAspect="1"/>
          </p:cNvPicPr>
          <p:nvPr/>
        </p:nvPicPr>
        <p:blipFill>
          <a:blip r:embed="rId2"/>
          <a:stretch>
            <a:fillRect/>
          </a:stretch>
        </p:blipFill>
        <p:spPr>
          <a:xfrm>
            <a:off x="7019925" y="3500120"/>
            <a:ext cx="2752725" cy="22002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4933"/>
            <a:ext cx="10515600" cy="1091886"/>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88925" y="1333255"/>
            <a:ext cx="10515600" cy="977865"/>
          </a:xfrm>
        </p:spPr>
        <p:txBody>
          <a:bodyPr/>
          <a:lstStyle/>
          <a:p>
            <a:pPr marL="114300" indent="0">
              <a:buNone/>
            </a:pPr>
            <a:r>
              <a:rPr lang="en-IN" dirty="0"/>
              <a:t>6.</a:t>
            </a:r>
            <a:r>
              <a:rPr lang="en-US" dirty="0"/>
              <a:t> What is the trend in GDP for each country over the given years?</a:t>
            </a:r>
            <a:endParaRPr lang="en-IN" dirty="0"/>
          </a:p>
        </p:txBody>
      </p:sp>
      <p:sp>
        <p:nvSpPr>
          <p:cNvPr id="4" name="TextBox 3"/>
          <p:cNvSpPr txBox="1"/>
          <p:nvPr/>
        </p:nvSpPr>
        <p:spPr>
          <a:xfrm>
            <a:off x="902013" y="2425141"/>
            <a:ext cx="3422301"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511332" y="2425140"/>
            <a:ext cx="3647552"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1316996" y="3124477"/>
            <a:ext cx="3248478" cy="1414866"/>
          </a:xfrm>
          <a:prstGeom prst="rect">
            <a:avLst/>
          </a:prstGeom>
        </p:spPr>
      </p:pic>
      <p:pic>
        <p:nvPicPr>
          <p:cNvPr id="9" name="Picture 8"/>
          <p:cNvPicPr>
            <a:picLocks noChangeAspect="1"/>
          </p:cNvPicPr>
          <p:nvPr/>
        </p:nvPicPr>
        <p:blipFill>
          <a:blip r:embed="rId2"/>
          <a:stretch>
            <a:fillRect/>
          </a:stretch>
        </p:blipFill>
        <p:spPr>
          <a:xfrm>
            <a:off x="7024722" y="3124477"/>
            <a:ext cx="3134162" cy="30484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1983"/>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1039167" y="1457012"/>
            <a:ext cx="10515600" cy="1111984"/>
          </a:xfrm>
        </p:spPr>
        <p:txBody>
          <a:bodyPr/>
          <a:lstStyle/>
          <a:p>
            <a:pPr marL="114300" indent="0">
              <a:buNone/>
            </a:pPr>
            <a:r>
              <a:rPr lang="en-IN" dirty="0"/>
              <a:t>7.</a:t>
            </a:r>
            <a:r>
              <a:rPr lang="en-US" dirty="0"/>
              <a:t> How has population growth affected total emissions in each country?</a:t>
            </a:r>
            <a:endParaRPr lang="en-IN" dirty="0"/>
          </a:p>
        </p:txBody>
      </p:sp>
      <p:sp>
        <p:nvSpPr>
          <p:cNvPr id="4" name="TextBox 3"/>
          <p:cNvSpPr txBox="1"/>
          <p:nvPr/>
        </p:nvSpPr>
        <p:spPr>
          <a:xfrm>
            <a:off x="1039167" y="2822816"/>
            <a:ext cx="3979148" cy="461665"/>
          </a:xfrm>
          <a:prstGeom prst="rect">
            <a:avLst/>
          </a:prstGeom>
          <a:noFill/>
        </p:spPr>
        <p:txBody>
          <a:bodyPr wrap="square" rtlCol="0">
            <a:spAutoFit/>
          </a:bodyPr>
          <a:lstStyle/>
          <a:p>
            <a:pPr algn="ctr"/>
            <a:r>
              <a:rPr lang="en-IN" sz="2400" dirty="0"/>
              <a:t>QUERY</a:t>
            </a:r>
            <a:endParaRPr lang="en-IN" sz="2400" dirty="0"/>
          </a:p>
        </p:txBody>
      </p:sp>
      <p:sp>
        <p:nvSpPr>
          <p:cNvPr id="5" name="TextBox 4"/>
          <p:cNvSpPr txBox="1"/>
          <p:nvPr/>
        </p:nvSpPr>
        <p:spPr>
          <a:xfrm>
            <a:off x="6531429" y="2823587"/>
            <a:ext cx="3828422"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717620" y="3538301"/>
            <a:ext cx="4953691" cy="2457793"/>
          </a:xfrm>
          <a:prstGeom prst="rect">
            <a:avLst/>
          </a:prstGeom>
        </p:spPr>
      </p:pic>
      <p:pic>
        <p:nvPicPr>
          <p:cNvPr id="9" name="Picture 8"/>
          <p:cNvPicPr>
            <a:picLocks noChangeAspect="1"/>
          </p:cNvPicPr>
          <p:nvPr/>
        </p:nvPicPr>
        <p:blipFill>
          <a:blip r:embed="rId2"/>
          <a:stretch>
            <a:fillRect/>
          </a:stretch>
        </p:blipFill>
        <p:spPr>
          <a:xfrm>
            <a:off x="6132457" y="3284481"/>
            <a:ext cx="5020376" cy="281979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52176"/>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7" y="1517302"/>
            <a:ext cx="10515600" cy="937672"/>
          </a:xfrm>
        </p:spPr>
        <p:txBody>
          <a:bodyPr>
            <a:normAutofit lnSpcReduction="10000"/>
          </a:bodyPr>
          <a:lstStyle/>
          <a:p>
            <a:pPr marL="114300" indent="0">
              <a:buNone/>
            </a:pPr>
            <a:r>
              <a:rPr lang="en-IN" dirty="0"/>
              <a:t>8.</a:t>
            </a:r>
            <a:r>
              <a:rPr lang="en-US" dirty="0"/>
              <a:t> Has energy consumption increased or decreased over the years for major economies?</a:t>
            </a:r>
            <a:endParaRPr lang="en-IN" dirty="0"/>
          </a:p>
        </p:txBody>
      </p:sp>
      <p:sp>
        <p:nvSpPr>
          <p:cNvPr id="4" name="TextBox 3"/>
          <p:cNvSpPr txBox="1"/>
          <p:nvPr/>
        </p:nvSpPr>
        <p:spPr>
          <a:xfrm>
            <a:off x="978877" y="2967335"/>
            <a:ext cx="3542881"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842927" y="2954213"/>
            <a:ext cx="3265714"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349405" y="3429000"/>
            <a:ext cx="5887272" cy="3105583"/>
          </a:xfrm>
          <a:prstGeom prst="rect">
            <a:avLst/>
          </a:prstGeom>
        </p:spPr>
      </p:pic>
      <p:pic>
        <p:nvPicPr>
          <p:cNvPr id="9" name="Picture 8"/>
          <p:cNvPicPr>
            <a:picLocks noChangeAspect="1"/>
          </p:cNvPicPr>
          <p:nvPr/>
        </p:nvPicPr>
        <p:blipFill>
          <a:blip r:embed="rId2"/>
          <a:stretch>
            <a:fillRect/>
          </a:stretch>
        </p:blipFill>
        <p:spPr>
          <a:xfrm>
            <a:off x="7151624" y="3442123"/>
            <a:ext cx="2648320" cy="28197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21548"/>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68828" y="1463884"/>
            <a:ext cx="10515600" cy="807043"/>
          </a:xfrm>
        </p:spPr>
        <p:txBody>
          <a:bodyPr>
            <a:noAutofit/>
          </a:bodyPr>
          <a:lstStyle/>
          <a:p>
            <a:pPr marL="114300" indent="0">
              <a:buNone/>
            </a:pPr>
            <a:r>
              <a:rPr lang="en-US" dirty="0"/>
              <a:t> 9.What is the average yearly change in emissions per capita for each   </a:t>
            </a:r>
            <a:endParaRPr lang="en-US" dirty="0"/>
          </a:p>
          <a:p>
            <a:pPr marL="114300" indent="0">
              <a:buNone/>
            </a:pPr>
            <a:r>
              <a:rPr lang="en-US" dirty="0"/>
              <a:t>country?</a:t>
            </a:r>
            <a:endParaRPr lang="en-IN" dirty="0"/>
          </a:p>
        </p:txBody>
      </p:sp>
      <p:sp>
        <p:nvSpPr>
          <p:cNvPr id="4" name="TextBox 3"/>
          <p:cNvSpPr txBox="1"/>
          <p:nvPr/>
        </p:nvSpPr>
        <p:spPr>
          <a:xfrm>
            <a:off x="968828" y="2832071"/>
            <a:ext cx="3607359"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812782" y="2832070"/>
            <a:ext cx="3326005"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320304" y="3679551"/>
            <a:ext cx="5906324" cy="1414963"/>
          </a:xfrm>
          <a:prstGeom prst="rect">
            <a:avLst/>
          </a:prstGeom>
        </p:spPr>
      </p:pic>
      <p:pic>
        <p:nvPicPr>
          <p:cNvPr id="9" name="Picture 8"/>
          <p:cNvPicPr>
            <a:picLocks noChangeAspect="1"/>
          </p:cNvPicPr>
          <p:nvPr/>
        </p:nvPicPr>
        <p:blipFill>
          <a:blip r:embed="rId2"/>
          <a:stretch>
            <a:fillRect/>
          </a:stretch>
        </p:blipFill>
        <p:spPr>
          <a:xfrm>
            <a:off x="7076242" y="3293735"/>
            <a:ext cx="3686689" cy="288647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717" y="334981"/>
            <a:ext cx="10515600" cy="1081838"/>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838200" y="1416819"/>
            <a:ext cx="10515600" cy="827140"/>
          </a:xfrm>
        </p:spPr>
        <p:txBody>
          <a:bodyPr/>
          <a:lstStyle/>
          <a:p>
            <a:pPr marL="114300" indent="0">
              <a:buNone/>
            </a:pPr>
            <a:r>
              <a:rPr lang="en-IN" dirty="0"/>
              <a:t>10.</a:t>
            </a:r>
            <a:r>
              <a:rPr lang="en-US" dirty="0"/>
              <a:t> What is the emission-to-GDP ratio for each country by year?</a:t>
            </a:r>
            <a:endParaRPr lang="en-IN" dirty="0"/>
          </a:p>
        </p:txBody>
      </p:sp>
      <p:sp>
        <p:nvSpPr>
          <p:cNvPr id="4" name="TextBox 3"/>
          <p:cNvSpPr txBox="1"/>
          <p:nvPr/>
        </p:nvSpPr>
        <p:spPr>
          <a:xfrm>
            <a:off x="1135464" y="2773345"/>
            <a:ext cx="3577213"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240026" y="2773344"/>
            <a:ext cx="3748035"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327081" y="3699514"/>
            <a:ext cx="6192114" cy="1829055"/>
          </a:xfrm>
          <a:prstGeom prst="rect">
            <a:avLst/>
          </a:prstGeom>
        </p:spPr>
      </p:pic>
      <p:pic>
        <p:nvPicPr>
          <p:cNvPr id="9" name="Picture 8"/>
          <p:cNvPicPr>
            <a:picLocks noChangeAspect="1"/>
          </p:cNvPicPr>
          <p:nvPr/>
        </p:nvPicPr>
        <p:blipFill>
          <a:blip r:embed="rId2"/>
          <a:stretch>
            <a:fillRect/>
          </a:stretch>
        </p:blipFill>
        <p:spPr>
          <a:xfrm>
            <a:off x="6956340" y="3235009"/>
            <a:ext cx="3353268" cy="295316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32563"/>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7" y="1423691"/>
            <a:ext cx="10515600" cy="987913"/>
          </a:xfrm>
        </p:spPr>
        <p:txBody>
          <a:bodyPr/>
          <a:lstStyle/>
          <a:p>
            <a:pPr marL="114300" indent="0">
              <a:buNone/>
            </a:pPr>
            <a:r>
              <a:rPr lang="en-IN" dirty="0"/>
              <a:t>11.</a:t>
            </a:r>
            <a:r>
              <a:rPr lang="en-US" dirty="0"/>
              <a:t> What is the energy consumption per capita for each country over the last decade?</a:t>
            </a:r>
            <a:endParaRPr lang="en-IN" dirty="0"/>
          </a:p>
        </p:txBody>
      </p:sp>
      <p:sp>
        <p:nvSpPr>
          <p:cNvPr id="4" name="TextBox 3"/>
          <p:cNvSpPr txBox="1"/>
          <p:nvPr/>
        </p:nvSpPr>
        <p:spPr>
          <a:xfrm>
            <a:off x="677426" y="2656254"/>
            <a:ext cx="4035251"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531429" y="2656253"/>
            <a:ext cx="3959050" cy="461665"/>
          </a:xfrm>
          <a:prstGeom prst="rect">
            <a:avLst/>
          </a:prstGeom>
          <a:noFill/>
        </p:spPr>
        <p:txBody>
          <a:bodyPr wrap="square" rtlCol="0">
            <a:spAutoFit/>
          </a:bodyPr>
          <a:lstStyle/>
          <a:p>
            <a:pPr algn="ctr"/>
            <a:r>
              <a:rPr lang="en-IN" sz="2400" dirty="0"/>
              <a:t>OUTPUT</a:t>
            </a:r>
            <a:endParaRPr lang="en-IN" sz="2400" dirty="0"/>
          </a:p>
        </p:txBody>
      </p:sp>
      <p:pic>
        <p:nvPicPr>
          <p:cNvPr id="7" name="Picture 6"/>
          <p:cNvPicPr>
            <a:picLocks noChangeAspect="1"/>
          </p:cNvPicPr>
          <p:nvPr/>
        </p:nvPicPr>
        <p:blipFill>
          <a:blip r:embed="rId1"/>
          <a:stretch>
            <a:fillRect/>
          </a:stretch>
        </p:blipFill>
        <p:spPr>
          <a:xfrm>
            <a:off x="323037" y="3577214"/>
            <a:ext cx="6308875" cy="1738366"/>
          </a:xfrm>
          <a:prstGeom prst="rect">
            <a:avLst/>
          </a:prstGeom>
        </p:spPr>
      </p:pic>
      <p:pic>
        <p:nvPicPr>
          <p:cNvPr id="9" name="Picture 8"/>
          <p:cNvPicPr>
            <a:picLocks noChangeAspect="1"/>
          </p:cNvPicPr>
          <p:nvPr/>
        </p:nvPicPr>
        <p:blipFill>
          <a:blip r:embed="rId2"/>
          <a:stretch>
            <a:fillRect/>
          </a:stretch>
        </p:blipFill>
        <p:spPr>
          <a:xfrm>
            <a:off x="7309963" y="3117918"/>
            <a:ext cx="3781953" cy="289600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68614"/>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1009022" y="1433739"/>
            <a:ext cx="10515600" cy="726657"/>
          </a:xfrm>
        </p:spPr>
        <p:txBody>
          <a:bodyPr/>
          <a:lstStyle/>
          <a:p>
            <a:pPr marL="114300" indent="0">
              <a:buNone/>
            </a:pPr>
            <a:r>
              <a:rPr lang="en-IN" dirty="0"/>
              <a:t>12.</a:t>
            </a:r>
            <a:r>
              <a:rPr lang="en-US" dirty="0"/>
              <a:t> How does energy production per capita vary across countries? </a:t>
            </a:r>
            <a:endParaRPr lang="en-IN" dirty="0"/>
          </a:p>
        </p:txBody>
      </p:sp>
      <p:sp>
        <p:nvSpPr>
          <p:cNvPr id="4" name="TextBox 3"/>
          <p:cNvSpPr txBox="1"/>
          <p:nvPr/>
        </p:nvSpPr>
        <p:spPr>
          <a:xfrm>
            <a:off x="1099457" y="2616060"/>
            <a:ext cx="4256314"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5908429" y="2616059"/>
            <a:ext cx="4531807"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321079" y="3429000"/>
            <a:ext cx="6501751" cy="1806371"/>
          </a:xfrm>
          <a:prstGeom prst="rect">
            <a:avLst/>
          </a:prstGeom>
        </p:spPr>
      </p:pic>
      <p:pic>
        <p:nvPicPr>
          <p:cNvPr id="9" name="Picture 8"/>
          <p:cNvPicPr>
            <a:picLocks noChangeAspect="1"/>
          </p:cNvPicPr>
          <p:nvPr/>
        </p:nvPicPr>
        <p:blipFill>
          <a:blip r:embed="rId2"/>
          <a:stretch>
            <a:fillRect/>
          </a:stretch>
        </p:blipFill>
        <p:spPr>
          <a:xfrm>
            <a:off x="7020650" y="3077724"/>
            <a:ext cx="3858163" cy="289600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1499"/>
          </a:xfrm>
        </p:spPr>
        <p:txBody>
          <a:bodyPr>
            <a:normAutofit/>
          </a:bodyPr>
          <a:lstStyle/>
          <a:p>
            <a:pPr algn="ctr"/>
            <a:r>
              <a:rPr lang="en-US" sz="3600" b="1" u="sng" dirty="0">
                <a:solidFill>
                  <a:srgbClr val="FF0000"/>
                </a:solidFill>
              </a:rPr>
              <a:t>SQL query results with screenshots or summaries</a:t>
            </a:r>
            <a:endParaRPr lang="en-IN" sz="3600" u="sng" dirty="0"/>
          </a:p>
        </p:txBody>
      </p:sp>
      <p:sp>
        <p:nvSpPr>
          <p:cNvPr id="3" name="Text Placeholder 2"/>
          <p:cNvSpPr>
            <a:spLocks noGrp="1"/>
          </p:cNvSpPr>
          <p:nvPr>
            <p:ph type="body" idx="1"/>
          </p:nvPr>
        </p:nvSpPr>
        <p:spPr>
          <a:xfrm>
            <a:off x="1099457" y="1376624"/>
            <a:ext cx="10515600" cy="1088397"/>
          </a:xfrm>
        </p:spPr>
        <p:txBody>
          <a:bodyPr/>
          <a:lstStyle/>
          <a:p>
            <a:pPr marL="114300" indent="0">
              <a:buNone/>
            </a:pPr>
            <a:r>
              <a:rPr lang="en-IN" dirty="0"/>
              <a:t>13.</a:t>
            </a:r>
            <a:r>
              <a:rPr lang="en-US" dirty="0"/>
              <a:t> Which countries have the highest energy consumption relative to GDP?</a:t>
            </a:r>
            <a:endParaRPr lang="en-IN" dirty="0"/>
          </a:p>
        </p:txBody>
      </p:sp>
      <p:sp>
        <p:nvSpPr>
          <p:cNvPr id="4" name="TextBox 3"/>
          <p:cNvSpPr txBox="1"/>
          <p:nvPr/>
        </p:nvSpPr>
        <p:spPr>
          <a:xfrm>
            <a:off x="838200" y="2703007"/>
            <a:ext cx="4246266"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390752" y="2703007"/>
            <a:ext cx="4069582"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451145" y="3333606"/>
            <a:ext cx="5020376" cy="2434148"/>
          </a:xfrm>
          <a:prstGeom prst="rect">
            <a:avLst/>
          </a:prstGeom>
        </p:spPr>
      </p:pic>
      <p:pic>
        <p:nvPicPr>
          <p:cNvPr id="9" name="Picture 8"/>
          <p:cNvPicPr>
            <a:picLocks noChangeAspect="1"/>
          </p:cNvPicPr>
          <p:nvPr/>
        </p:nvPicPr>
        <p:blipFill>
          <a:blip r:embed="rId2"/>
          <a:stretch>
            <a:fillRect/>
          </a:stretch>
        </p:blipFill>
        <p:spPr>
          <a:xfrm>
            <a:off x="6240169" y="3250287"/>
            <a:ext cx="4411083" cy="306007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35"/>
            <a:ext cx="10515600" cy="1132079"/>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7" y="1293063"/>
            <a:ext cx="10515600" cy="1018059"/>
          </a:xfrm>
        </p:spPr>
        <p:txBody>
          <a:bodyPr/>
          <a:lstStyle/>
          <a:p>
            <a:pPr marL="114300" indent="0">
              <a:buNone/>
            </a:pPr>
            <a:r>
              <a:rPr lang="en-IN" dirty="0"/>
              <a:t>14.</a:t>
            </a:r>
            <a:r>
              <a:rPr lang="en-US" dirty="0"/>
              <a:t> What is the correlation between GDP growth and energy production growth?</a:t>
            </a:r>
            <a:endParaRPr lang="en-IN" dirty="0"/>
          </a:p>
        </p:txBody>
      </p:sp>
      <p:sp>
        <p:nvSpPr>
          <p:cNvPr id="4" name="TextBox 3"/>
          <p:cNvSpPr txBox="1"/>
          <p:nvPr/>
        </p:nvSpPr>
        <p:spPr>
          <a:xfrm>
            <a:off x="693336" y="2803769"/>
            <a:ext cx="4160017"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430945" y="2803768"/>
            <a:ext cx="4602145"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547293" y="3592567"/>
            <a:ext cx="4143953" cy="1972370"/>
          </a:xfrm>
          <a:prstGeom prst="rect">
            <a:avLst/>
          </a:prstGeom>
        </p:spPr>
      </p:pic>
      <p:pic>
        <p:nvPicPr>
          <p:cNvPr id="9" name="Picture 8"/>
          <p:cNvPicPr>
            <a:picLocks noChangeAspect="1"/>
          </p:cNvPicPr>
          <p:nvPr/>
        </p:nvPicPr>
        <p:blipFill>
          <a:blip r:embed="rId2"/>
          <a:stretch>
            <a:fillRect/>
          </a:stretch>
        </p:blipFill>
        <p:spPr>
          <a:xfrm>
            <a:off x="6293276" y="3265433"/>
            <a:ext cx="4877481" cy="28578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2128"/>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88925" y="1507254"/>
            <a:ext cx="10515600" cy="1048204"/>
          </a:xfrm>
        </p:spPr>
        <p:txBody>
          <a:bodyPr/>
          <a:lstStyle/>
          <a:p>
            <a:pPr marL="114300" indent="0">
              <a:buNone/>
            </a:pPr>
            <a:r>
              <a:rPr lang="en-IN" dirty="0"/>
              <a:t>15.</a:t>
            </a:r>
            <a:r>
              <a:rPr lang="en-US" dirty="0"/>
              <a:t> What are the top 10 countries by population and how do their emissions compare? </a:t>
            </a:r>
            <a:endParaRPr lang="en-IN" dirty="0"/>
          </a:p>
        </p:txBody>
      </p:sp>
      <p:sp>
        <p:nvSpPr>
          <p:cNvPr id="4" name="TextBox 3"/>
          <p:cNvSpPr txBox="1"/>
          <p:nvPr/>
        </p:nvSpPr>
        <p:spPr>
          <a:xfrm>
            <a:off x="988925" y="2997200"/>
            <a:ext cx="3788229"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7184571" y="2967335"/>
            <a:ext cx="3215473"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1160307" y="3501570"/>
            <a:ext cx="3962953" cy="2743583"/>
          </a:xfrm>
          <a:prstGeom prst="rect">
            <a:avLst/>
          </a:prstGeom>
        </p:spPr>
      </p:pic>
      <p:pic>
        <p:nvPicPr>
          <p:cNvPr id="9" name="Picture 8"/>
          <p:cNvPicPr>
            <a:picLocks noChangeAspect="1"/>
          </p:cNvPicPr>
          <p:nvPr/>
        </p:nvPicPr>
        <p:blipFill>
          <a:blip r:embed="rId2"/>
          <a:stretch>
            <a:fillRect/>
          </a:stretch>
        </p:blipFill>
        <p:spPr>
          <a:xfrm>
            <a:off x="6921992" y="3501570"/>
            <a:ext cx="3638826" cy="255758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2128"/>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38684" y="1507254"/>
            <a:ext cx="10515600" cy="817091"/>
          </a:xfrm>
        </p:spPr>
        <p:txBody>
          <a:bodyPr/>
          <a:lstStyle/>
          <a:p>
            <a:pPr marL="114300" indent="0">
              <a:buNone/>
            </a:pPr>
            <a:r>
              <a:rPr lang="en-IN" dirty="0"/>
              <a:t>16.</a:t>
            </a:r>
            <a:r>
              <a:rPr lang="en-US" dirty="0"/>
              <a:t> What is the global share (%) of emissions by country?</a:t>
            </a:r>
            <a:endParaRPr lang="en-IN" dirty="0"/>
          </a:p>
        </p:txBody>
      </p:sp>
      <p:sp>
        <p:nvSpPr>
          <p:cNvPr id="4" name="TextBox 3"/>
          <p:cNvSpPr txBox="1"/>
          <p:nvPr/>
        </p:nvSpPr>
        <p:spPr>
          <a:xfrm>
            <a:off x="938684" y="2653324"/>
            <a:ext cx="4517571"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521380" y="2653324"/>
            <a:ext cx="5164853"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181447" y="3466473"/>
            <a:ext cx="6118870" cy="2457793"/>
          </a:xfrm>
          <a:prstGeom prst="rect">
            <a:avLst/>
          </a:prstGeom>
        </p:spPr>
      </p:pic>
      <p:pic>
        <p:nvPicPr>
          <p:cNvPr id="9" name="Picture 8"/>
          <p:cNvPicPr>
            <a:picLocks noChangeAspect="1"/>
          </p:cNvPicPr>
          <p:nvPr/>
        </p:nvPicPr>
        <p:blipFill>
          <a:blip r:embed="rId2"/>
          <a:stretch>
            <a:fillRect/>
          </a:stretch>
        </p:blipFill>
        <p:spPr>
          <a:xfrm>
            <a:off x="6863024" y="3114989"/>
            <a:ext cx="3888712" cy="292458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1983"/>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88925" y="1477108"/>
            <a:ext cx="10515600" cy="927623"/>
          </a:xfrm>
        </p:spPr>
        <p:txBody>
          <a:bodyPr>
            <a:normAutofit/>
          </a:bodyPr>
          <a:lstStyle/>
          <a:p>
            <a:pPr marL="114300" indent="0">
              <a:buNone/>
            </a:pPr>
            <a:r>
              <a:rPr lang="en-IN" dirty="0"/>
              <a:t>17.</a:t>
            </a:r>
            <a:r>
              <a:rPr lang="en-US" dirty="0"/>
              <a:t> What is the global average GDP, emission, and population by year?</a:t>
            </a:r>
            <a:endParaRPr lang="en-IN" dirty="0"/>
          </a:p>
        </p:txBody>
      </p:sp>
      <p:sp>
        <p:nvSpPr>
          <p:cNvPr id="4" name="TextBox 3"/>
          <p:cNvSpPr txBox="1"/>
          <p:nvPr/>
        </p:nvSpPr>
        <p:spPr>
          <a:xfrm>
            <a:off x="838200" y="2572378"/>
            <a:ext cx="3784042"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682154" y="2572378"/>
            <a:ext cx="3567165"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687474" y="3201690"/>
            <a:ext cx="4256315" cy="3148868"/>
          </a:xfrm>
          <a:prstGeom prst="rect">
            <a:avLst/>
          </a:prstGeom>
        </p:spPr>
      </p:pic>
      <p:pic>
        <p:nvPicPr>
          <p:cNvPr id="6" name="Picture 5"/>
          <p:cNvPicPr>
            <a:picLocks noChangeAspect="1"/>
          </p:cNvPicPr>
          <p:nvPr/>
        </p:nvPicPr>
        <p:blipFill>
          <a:blip r:embed="rId2"/>
          <a:stretch>
            <a:fillRect/>
          </a:stretch>
        </p:blipFill>
        <p:spPr>
          <a:xfrm>
            <a:off x="6048375" y="3429000"/>
            <a:ext cx="5455920" cy="2209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82805"/>
          </a:xfrm>
        </p:spPr>
        <p:txBody>
          <a:bodyPr>
            <a:normAutofit/>
          </a:bodyPr>
          <a:lstStyle/>
          <a:p>
            <a:r>
              <a:rPr lang="en-US" sz="3600" b="1" dirty="0">
                <a:solidFill>
                  <a:srgbClr val="FF0000"/>
                </a:solidFill>
              </a:rPr>
              <a:t>Final business insights and recommendations</a:t>
            </a:r>
            <a:br>
              <a:rPr lang="en-US" sz="3600" dirty="0">
                <a:solidFill>
                  <a:srgbClr val="FF0000"/>
                </a:solidFill>
              </a:rPr>
            </a:br>
            <a:endParaRPr lang="en-IN" sz="3600" dirty="0">
              <a:solidFill>
                <a:srgbClr val="FF0000"/>
              </a:solidFill>
            </a:endParaRPr>
          </a:p>
        </p:txBody>
      </p:sp>
      <p:sp>
        <p:nvSpPr>
          <p:cNvPr id="3" name="Text Placeholder 2"/>
          <p:cNvSpPr>
            <a:spLocks noGrp="1"/>
          </p:cNvSpPr>
          <p:nvPr>
            <p:ph type="body" idx="1"/>
          </p:nvPr>
        </p:nvSpPr>
        <p:spPr>
          <a:xfrm>
            <a:off x="838200" y="1276141"/>
            <a:ext cx="10515600" cy="4900822"/>
          </a:xfrm>
        </p:spPr>
        <p:txBody>
          <a:bodyPr>
            <a:normAutofit fontScale="72500"/>
          </a:bodyPr>
          <a:lstStyle/>
          <a:p>
            <a:r>
              <a:rPr lang="en-US" altLang="en-GB" dirty="0"/>
              <a:t>A strong, positive correlation exists between a nation's Gross Domestic Product (GDP) and its energy consumption. This suggests that economic expansion is a primary driver of escalating energy demand and, consequently, higher carbon emissions.</a:t>
            </a:r>
            <a:endParaRPr lang="en-US" altLang="en-GB" dirty="0"/>
          </a:p>
          <a:p>
            <a:r>
              <a:rPr lang="en-US" altLang="en-GB" dirty="0"/>
              <a:t>The emission-to-GDP ratio is a critical metric for assessing how efficiently an economy uses energy. Countries that exhibit a lower ratio are more successful at decoupling economic growth from environmental harm, demonstrating a more sustainable development model.</a:t>
            </a:r>
            <a:endParaRPr lang="en-US" altLang="en-GB" dirty="0"/>
          </a:p>
          <a:p>
            <a:r>
              <a:rPr lang="en-US" altLang="en-GB" dirty="0"/>
              <a:t>Rising emission levels are directly linked to population growth. This trend highlights the urgent need for scalable, sustainable energy frameworks to accommodate the environmental pressures of an expanding global population.</a:t>
            </a:r>
            <a:endParaRPr lang="en-US" altLang="en-GB" dirty="0"/>
          </a:p>
          <a:p>
            <a:r>
              <a:rPr lang="en-US" altLang="en-GB" dirty="0"/>
              <a:t>Analyzing historical trends in energy production and consumption identifies clear opportunities for strategic investment in cleaner technologies. The data points towards an imperative shift to more efficient and renewable energy sources.</a:t>
            </a:r>
            <a:endParaRPr lang="en-US" altLang="en-GB" dirty="0"/>
          </a:p>
          <a:p>
            <a:r>
              <a:rPr lang="en-US" altLang="en-GB" dirty="0"/>
              <a:t>The world's largest energy consumers have a critical responsibility to reduce their per capita emissions. The most effective pathways to achieve this involve accelerating the adoption of renewable energy and implementing robust energy efficiency initiatives.</a:t>
            </a:r>
            <a:endParaRPr lang="en-US" altLang="en-GB" dirty="0"/>
          </a:p>
          <a:p>
            <a:endParaRPr lang="en-US" altLang="en-GB" dirty="0"/>
          </a:p>
          <a:p>
            <a:endParaRPr lang="en-US" alt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solidFill>
                  <a:srgbClr val="FF0000"/>
                </a:solidFill>
              </a:rPr>
              <a:t>Conclusion</a:t>
            </a:r>
            <a:endParaRPr lang="en-IN" sz="3600" dirty="0">
              <a:solidFill>
                <a:srgbClr val="FF0000"/>
              </a:solidFill>
            </a:endParaRPr>
          </a:p>
        </p:txBody>
      </p:sp>
      <p:sp>
        <p:nvSpPr>
          <p:cNvPr id="3" name="Text Placeholder 2"/>
          <p:cNvSpPr>
            <a:spLocks noGrp="1"/>
          </p:cNvSpPr>
          <p:nvPr>
            <p:ph type="body" idx="1"/>
          </p:nvPr>
        </p:nvSpPr>
        <p:spPr>
          <a:xfrm>
            <a:off x="838200" y="1524635"/>
            <a:ext cx="10515600" cy="4518025"/>
          </a:xfrm>
        </p:spPr>
        <p:txBody>
          <a:bodyPr>
            <a:normAutofit lnSpcReduction="20000"/>
          </a:bodyPr>
          <a:lstStyle/>
          <a:p>
            <a:r>
              <a:rPr lang="en-US" altLang="en-GB" sz="2400" dirty="0"/>
              <a:t>The analysis confirms a strong positive correlation between a nation's economic growth and its energy consumption, leading to higher emissions.</a:t>
            </a:r>
            <a:endParaRPr lang="en-US" altLang="en-GB" sz="2400" dirty="0"/>
          </a:p>
          <a:p>
            <a:r>
              <a:rPr lang="en-US" altLang="en-GB" sz="2400" dirty="0"/>
              <a:t>The findings highlight a critical need for countries to improve energy efficiency and accelerate the transition to cleaner, renewable energy sources to decouple growth from environmental impact.</a:t>
            </a:r>
            <a:endParaRPr lang="en-US" altLang="en-GB" sz="2400" dirty="0"/>
          </a:p>
          <a:p>
            <a:r>
              <a:rPr lang="en-US" altLang="en-GB" sz="2400" dirty="0"/>
              <a:t>This project demonstrates how data analytics can provide the evidence needed to craft effective policies that successfully balance economic development with environmental sustainability.</a:t>
            </a:r>
            <a:endParaRPr lang="en-US" altLang="en-GB" sz="2400" dirty="0"/>
          </a:p>
          <a:p>
            <a:r>
              <a:rPr lang="en-US" altLang="en-GB" sz="2400" dirty="0"/>
              <a:t>Ultimately, this study shows that leveraging energy and economic data is essential for strategic planning and building a more energy-efficient and sustainable global future.</a:t>
            </a:r>
            <a:endParaRPr lang="en-US" altLang="en-GB" sz="2000" dirty="0"/>
          </a:p>
          <a:p>
            <a:endParaRPr lang="en-US" altLang="en-GB" sz="2400" dirty="0"/>
          </a:p>
          <a:p>
            <a:endParaRPr lang="en-US" altLang="en-GB" sz="2400" dirty="0"/>
          </a:p>
          <a:p>
            <a:endParaRPr lang="en-US" altLang="en-GB" sz="2400" dirty="0"/>
          </a:p>
          <a:p>
            <a:endParaRPr lang="en-US" altLang="en-GB" sz="2400" dirty="0"/>
          </a:p>
          <a:p>
            <a:endParaRPr lang="en-US" altLang="en-GB" sz="2400" dirty="0"/>
          </a:p>
          <a:p>
            <a:endParaRPr lang="en-US" altLang="en-GB" sz="2400" dirty="0"/>
          </a:p>
          <a:p>
            <a:endParaRPr lang="en-US" altLang="en-GB" sz="2400" dirty="0"/>
          </a:p>
          <a:p>
            <a:endParaRPr lang="en-US" altLang="en-GB" sz="2400" dirty="0"/>
          </a:p>
          <a:p>
            <a:endParaRPr lang="en-US" altLang="en-GB" sz="2400" dirty="0"/>
          </a:p>
          <a:p>
            <a:pPr marL="114300" indent="0">
              <a:buNone/>
            </a:pPr>
            <a:endParaRPr lang="en-US" altLang="en-GB"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1257"/>
          </a:xfrm>
        </p:spPr>
        <p:txBody>
          <a:bodyPr>
            <a:normAutofit/>
          </a:bodyPr>
          <a:lstStyle/>
          <a:p>
            <a:r>
              <a:rPr lang="en-IN" sz="4000" b="1" dirty="0">
                <a:solidFill>
                  <a:srgbClr val="FF0000"/>
                </a:solidFill>
              </a:rPr>
              <a:t>Your Experience/Challenges working on SQL</a:t>
            </a:r>
            <a:endParaRPr lang="en-IN" sz="4000" dirty="0">
              <a:solidFill>
                <a:srgbClr val="FF0000"/>
              </a:solidFill>
            </a:endParaRPr>
          </a:p>
        </p:txBody>
      </p:sp>
      <p:sp>
        <p:nvSpPr>
          <p:cNvPr id="3" name="Text Placeholder 2"/>
          <p:cNvSpPr>
            <a:spLocks noGrp="1"/>
          </p:cNvSpPr>
          <p:nvPr>
            <p:ph type="body" idx="1"/>
          </p:nvPr>
        </p:nvSpPr>
        <p:spPr>
          <a:xfrm>
            <a:off x="838200" y="1406769"/>
            <a:ext cx="10515600" cy="4770194"/>
          </a:xfrm>
        </p:spPr>
        <p:txBody>
          <a:bodyPr>
            <a:normAutofit fontScale="90000"/>
          </a:bodyPr>
          <a:lstStyle/>
          <a:p>
            <a:pPr marL="114300" indent="0">
              <a:buNone/>
            </a:pPr>
            <a:r>
              <a:rPr lang="en-US" b="1" u="sng" dirty="0"/>
              <a:t>Experience</a:t>
            </a:r>
            <a:endParaRPr lang="en-US" dirty="0"/>
          </a:p>
          <a:p>
            <a:r>
              <a:rPr lang="en-US" altLang="en-GB" sz="2000" dirty="0"/>
              <a:t>Successfully applied complex SQL queries to manipulate and analyze large-scale datasets, extracting key metrics and trends.</a:t>
            </a:r>
            <a:endParaRPr lang="en-US" altLang="en-GB" sz="2000" dirty="0"/>
          </a:p>
          <a:p>
            <a:r>
              <a:rPr lang="en-US" altLang="en-GB" sz="2000" dirty="0"/>
              <a:t>Demonstrated the ability to perform intricate joins across multiple tables to build a comprehensive view for analysis.</a:t>
            </a:r>
            <a:endParaRPr lang="en-US" altLang="en-GB" sz="2000" dirty="0"/>
          </a:p>
          <a:p>
            <a:r>
              <a:rPr lang="en-US" sz="2000" dirty="0"/>
              <a:t>Understood real-world relationships between energy consumption, emissions, GDP, and population.</a:t>
            </a:r>
            <a:endParaRPr lang="en-US" sz="2000" dirty="0"/>
          </a:p>
          <a:p>
            <a:pPr marL="114300" indent="0">
              <a:buNone/>
            </a:pPr>
            <a:endParaRPr lang="en-US" sz="2000" dirty="0"/>
          </a:p>
          <a:p>
            <a:pPr marL="114300" indent="0">
              <a:buNone/>
            </a:pPr>
            <a:r>
              <a:rPr lang="en-IN" b="1" u="sng" dirty="0"/>
              <a:t>Challenges</a:t>
            </a:r>
            <a:endParaRPr lang="en-IN" b="1" u="sng" dirty="0"/>
          </a:p>
          <a:p>
            <a:r>
              <a:rPr lang="en-US" altLang="en-GB" sz="2000" dirty="0"/>
              <a:t>A key challenge was architecting a logical database schema to manage and join multiple tables with diverse attributes, ensuring a cohesive structure for analysis.</a:t>
            </a:r>
            <a:endParaRPr lang="en-US" altLang="en-GB" sz="2000" dirty="0"/>
          </a:p>
          <a:p>
            <a:r>
              <a:rPr lang="en-US" sz="2000" dirty="0"/>
              <a:t>Ensuring data consistency and avoiding errors during SQL querying was sometimes difficult.</a:t>
            </a:r>
            <a:endParaRPr lang="en-US" sz="2000" dirty="0"/>
          </a:p>
          <a:p>
            <a:r>
              <a:rPr lang="en-US" altLang="en-GB" sz="2000" dirty="0"/>
              <a:t>The most demanding phase was interpreting the analytical results, which required bridging the gap between raw data and meaningful business conclusions through critical analysis and domain knowledge.</a:t>
            </a:r>
            <a:endParaRPr lang="en-US" sz="2000" dirty="0"/>
          </a:p>
          <a:p>
            <a:pPr marL="114300" indent="0">
              <a:buNone/>
            </a:pPr>
            <a:endParaRPr lang="en-IN" u="sng"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800" b="0" i="0" u="none" strike="noStrike" cap="none" dirty="0">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4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8060</Words>
  <Application>WPS Presentation</Application>
  <PresentationFormat>Widescreen</PresentationFormat>
  <Paragraphs>229</Paragraphs>
  <Slides>27</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27</vt:i4>
      </vt:variant>
    </vt:vector>
  </HeadingPairs>
  <TitlesOfParts>
    <vt:vector size="37" baseType="lpstr">
      <vt:lpstr>Arial</vt:lpstr>
      <vt:lpstr>SimSun</vt:lpstr>
      <vt:lpstr>Wingdings</vt:lpstr>
      <vt:lpstr>Arial</vt:lpstr>
      <vt:lpstr>Calibri</vt:lpstr>
      <vt:lpstr>Lato Black</vt:lpstr>
      <vt:lpstr>Microsoft YaHei</vt:lpstr>
      <vt:lpstr>Arial Unicode MS</vt:lpstr>
      <vt:lpstr>Libre Baskerville</vt:lpstr>
      <vt:lpstr>Office Theme</vt:lpstr>
      <vt:lpstr>PowerPoint 演示文稿</vt:lpstr>
      <vt:lpstr>PowerPoint 演示文稿</vt:lpstr>
      <vt:lpstr>Agenda  </vt:lpstr>
      <vt:lpstr>Objective of the Project </vt:lpstr>
      <vt:lpstr>ER Diagram and schema explanation </vt:lpstr>
      <vt:lpstr>Key analysis questions</vt:lpstr>
      <vt:lpstr>SQL query results with screenshots or summaries </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Final business insights and recommendations </vt:lpstr>
      <vt:lpstr>Conclusion</vt:lpstr>
      <vt:lpstr>Your Experience/Challenges working on SQL</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ch.pavan kumar</cp:lastModifiedBy>
  <cp:revision>5</cp:revision>
  <dcterms:created xsi:type="dcterms:W3CDTF">2021-02-16T05:19:00Z</dcterms:created>
  <dcterms:modified xsi:type="dcterms:W3CDTF">2025-10-15T09:22:26Z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BC42A31590D048A9BEFF515515A0B892_13</vt:lpwstr>
  </property>
  <property fmtid="{D5CDD505-2E9C-101B-9397-08002B2CF9AE}" pid="3" name="KSOProductBuildVer">
    <vt:lpwstr>1033-12.2.0.22549</vt:lpwstr>
  </property>
</Properties>
</file>